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Calibri" panose="020F0502020204030204"/>
      <p:regular r:id="rId19"/>
      <p:bold r:id="rId20"/>
      <p:italic r:id="rId21"/>
      <p:boldItalic r:id="rId22"/>
    </p:embeddedFont>
    <p:embeddedFont>
      <p:font typeface="Poppins" panose="00000500000000000000"/>
      <p:regular r:id="rId23"/>
      <p:bold r:id="rId24"/>
      <p:italic r:id="rId25"/>
      <p:boldItalic r:id="rId26"/>
    </p:embeddedFont>
    <p:embeddedFont>
      <p:font typeface="Lato" panose="020F0502020204030203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A18048-8650-4376-A595-9756BA08AA1D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814762"/>
            <a:ext cx="110490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643062"/>
            <a:ext cx="1160145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altLang="en-US" sz="4400" b="1" i="0" u="none" strike="noStrike" cap="none">
                <a:solidFill>
                  <a:srgbClr val="F8FAFC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explicação de </a:t>
            </a:r>
            <a:r>
              <a:rPr lang="en-US" sz="4400" b="1" i="0" u="none" strike="noStrike" cap="none">
                <a:solidFill>
                  <a:srgbClr val="F8FAFC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Programação I</a:t>
            </a:r>
            <a:r>
              <a:rPr lang="pt-PT" altLang="en-US" sz="4400" b="1" i="0" u="none" strike="noStrike" cap="none">
                <a:solidFill>
                  <a:srgbClr val="F8FAFC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(C++)</a:t>
            </a:r>
            <a:endParaRPr lang="pt-PT" altLang="en-US" sz="4400" b="1" i="0" u="none" strike="noStrike" cap="none">
              <a:solidFill>
                <a:srgbClr val="F8FAFC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881312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Aula 1: Ambiente C++, Comentários e Variáveis</a:t>
            </a:r>
            <a:endParaRPr lang="en-US" sz="2400" b="0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205287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Ismael Mussussa Chaibo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643437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ismaelchaibo8517@gmail.com</a:t>
            </a:r>
            <a:endParaRPr lang="en-US" sz="12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262187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214687"/>
            <a:ext cx="53340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4526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Os comentários ajudam a documentar o código e são ignorados pelo compilador.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96025" y="2271712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Introdução e Comentários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8128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17950" y="268128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2681287"/>
            <a:ext cx="3555950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19150" y="3414712"/>
            <a:ext cx="3213682" cy="21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chemeClr val="bg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#include</a:t>
            </a:r>
            <a:r>
              <a:rPr lang="pt-PT" altLang="en-US" sz="1405" b="1" i="0" u="none" strike="noStrike" cap="none">
                <a:solidFill>
                  <a:schemeClr val="bg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pt-PT" sz="1405">
                <a:solidFill>
                  <a:schemeClr val="bg1"/>
                </a:solidFill>
                <a:sym typeface="+mn-ea"/>
              </a:rPr>
              <a:t> &lt;iostream&gt;</a:t>
            </a:r>
            <a:endParaRPr lang="en-US" altLang="pt-PT" sz="1405" b="1" i="0" u="none" strike="noStrike" cap="none">
              <a:solidFill>
                <a:schemeClr val="bg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+mn-ea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819150" y="3881437"/>
            <a:ext cx="306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Mensagem para o pré-processador. Permite que o programa gere saída na tela e receba entradas.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565600" y="34147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Erro Comum</a:t>
            </a:r>
            <a:endParaRPr lang="en-US" sz="1405" b="1" i="0" u="none" strike="noStrike" cap="none">
              <a:solidFill>
                <a:srgbClr val="F8FAFC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565600" y="3881437"/>
            <a:ext cx="3060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Esquecer de incluir o cabeçalho  impede o uso de cout e cin.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312050" y="34147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Boa Prática</a:t>
            </a:r>
            <a:endParaRPr lang="en-US" sz="1405" b="1" i="0" u="none" strike="noStrike" cap="none">
              <a:solidFill>
                <a:srgbClr val="F8FAFC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312050" y="3881437"/>
            <a:ext cx="306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Utilize linhas em branco e espaços para melhorar a legibilidade do código.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19150" y="296703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565600" y="296703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12050" y="296703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Diretivas de Pré-processador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3143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Ponto de Entrada: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Os programas C++ começam a execução por aqui.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5718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Palavra-chave: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Palavras reservadas para fins específicos do C++.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000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Chaves { }: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Delimitam o corpo da função. A chave esquerda inicia e a direita termina.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429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Indentação: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Recue o corpo da função para facilitar a leitura.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19563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624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4815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Função int main()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307181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std::cout: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Objeto de saída de fluxo padrão.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354806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Operador &lt;&lt;: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Operador de inserção de fluxo.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402431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Texto entre aspas duplas ("...").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50056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Ponto-e-vírgula (;):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Termina toda instrução em C++.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6286500" y="307181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Caractere de Escape (\):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Indica caracteres especiais.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286500" y="354806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\n: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Nova linha.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286500" y="402431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return 0;: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Indica que o programa terminou com sucesso.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Saída de Dados e Sintaxe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571500" y="2614612"/>
            <a:ext cx="11049000" cy="272415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54" name="Google Shape;154;p18"/>
          <p:cNvGraphicFramePr/>
          <p:nvPr/>
        </p:nvGraphicFramePr>
        <p:xfrm>
          <a:off x="571500" y="2614612"/>
          <a:ext cx="11049000" cy="3000000"/>
        </p:xfrm>
        <a:graphic>
          <a:graphicData uri="http://schemas.openxmlformats.org/drawingml/2006/table">
            <a:tbl>
              <a:tblPr firstRow="1" bandRow="1">
                <a:noFill/>
                <a:tableStyleId>{22A18048-8650-4376-A595-9756BA08AA1D}</a:tableStyleId>
              </a:tblPr>
              <a:tblGrid>
                <a:gridCol w="2384225"/>
                <a:gridCol w="8664775"/>
              </a:tblGrid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Sequência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Descrição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\n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Nova linha. Posiciona o cursor no início da próxima linha.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\t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Tabulação horizontal. Move o cursor para a próxima parada.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\r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Retorno de carro. Posiciona o cursor no início da linha atual.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\a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Alerta. Aciona o aviso sonoro do sistema.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\\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Barra invertida utilizada para imprimir o próprio caractere \.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\"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Aspas duplas utilizadas para imprimir o caractere ".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8"/>
          <p:cNvSpPr/>
          <p:nvPr/>
        </p:nvSpPr>
        <p:spPr>
          <a:xfrm>
            <a:off x="571500" y="3419475"/>
            <a:ext cx="23842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955726" y="3419475"/>
            <a:ext cx="8664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71500" y="3800475"/>
            <a:ext cx="23842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2955726" y="3800475"/>
            <a:ext cx="8664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71500" y="4181475"/>
            <a:ext cx="23842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955726" y="4181475"/>
            <a:ext cx="8664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71500" y="4562475"/>
            <a:ext cx="23842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955726" y="4562475"/>
            <a:ext cx="8664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71500" y="4943475"/>
            <a:ext cx="23842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955726" y="4943475"/>
            <a:ext cx="8664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5324475"/>
            <a:ext cx="23842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955726" y="5324475"/>
            <a:ext cx="8664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Principais Sequências de Escape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07682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Nota: Cada programa deve iniciar com um comentário descrevendo o propósito, autor e data.</a:t>
            </a:r>
            <a:endParaRPr lang="en-US" sz="1200" b="0" i="1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Exemplo: Primeiro Programa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Imagem 0" descr="Gemini_Generated_Image_hragrehragrehra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65250"/>
            <a:ext cx="9107170" cy="3696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15621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 que é uma Variável?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27336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São posições na memória do computador.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34004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Cada variável possui: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838200" y="40290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952500" y="40290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Nome (Identificador)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38200" y="43148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52500" y="43148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Tipo (int, float, etc.)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38200" y="46005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52500" y="46005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Tamanho (em Bytes)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38200" y="48863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52500" y="48863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Valor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52762"/>
            <a:ext cx="53340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3052762"/>
            <a:ext cx="53340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819150" y="3328987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EF444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Escrita Destrutiva</a:t>
            </a:r>
            <a:endParaRPr lang="en-US" sz="1405" b="1" i="0" u="none" strike="noStrike" cap="none">
              <a:solidFill>
                <a:srgbClr val="EF444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19150" y="3795712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Sempre que um valor é colocado numa posição da memória, ele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sobrescreve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 valor anterior.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534150" y="3328987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22C55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Leitura Não Destrutiva</a:t>
            </a:r>
            <a:endParaRPr lang="en-US" sz="1405" b="1" i="0" u="none" strike="noStrike" cap="none">
              <a:solidFill>
                <a:srgbClr val="22C55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534150" y="3795712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Quando um valor é lido de uma posição da memória, o processo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não apaga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 valor atual.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Operações em Memória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/>
          <p:nvPr/>
        </p:nvSpPr>
        <p:spPr>
          <a:xfrm>
            <a:off x="571500" y="2805112"/>
            <a:ext cx="11049000" cy="234315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14" name="Google Shape;214;p22"/>
          <p:cNvGraphicFramePr/>
          <p:nvPr/>
        </p:nvGraphicFramePr>
        <p:xfrm>
          <a:off x="571500" y="2805112"/>
          <a:ext cx="11049000" cy="3000000"/>
        </p:xfrm>
        <a:graphic>
          <a:graphicData uri="http://schemas.openxmlformats.org/drawingml/2006/table">
            <a:tbl>
              <a:tblPr firstRow="1" bandRow="1">
                <a:noFill/>
                <a:tableStyleId>{22A18048-8650-4376-A595-9756BA08AA1D}</a:tableStyleId>
              </a:tblPr>
              <a:tblGrid>
                <a:gridCol w="1731175"/>
                <a:gridCol w="6108050"/>
                <a:gridCol w="3209775"/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Tipo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Descrição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Tamanho Típico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int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Números inteiros (sem casas decimais)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4 Bytes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float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Números reais (precisão simples)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4 Bytes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double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Números reais (precisão dupla - padrão)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8 Bytes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char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Um único carácter ('A', 'b')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1 Byte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bool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Valores lógicos (true ou false)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1 Byte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2"/>
          <p:cNvSpPr/>
          <p:nvPr/>
        </p:nvSpPr>
        <p:spPr>
          <a:xfrm>
            <a:off x="571500" y="3609975"/>
            <a:ext cx="1731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302668" y="3609975"/>
            <a:ext cx="61080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410723" y="3609975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3990975"/>
            <a:ext cx="1731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302668" y="3990975"/>
            <a:ext cx="61080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8410723" y="3990975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71500" y="4371975"/>
            <a:ext cx="1731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302668" y="4371975"/>
            <a:ext cx="61080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410723" y="4371975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1500" y="4752975"/>
            <a:ext cx="1731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302668" y="4752975"/>
            <a:ext cx="61080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410723" y="4752975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5133975"/>
            <a:ext cx="1731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302668" y="5133975"/>
            <a:ext cx="61080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410723" y="5133975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Tipos de Dados Básicos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262187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2271712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2414587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nomes descritivos para variáveis.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270033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Termine mensagens com \n.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3005137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Comente o propósito do seu programa.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466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7527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0575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Recapitulação e Boas Práticas</a:t>
            </a:r>
            <a:endParaRPr lang="en-US" sz="315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95275" y="1238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Dúvidas?</a:t>
            </a:r>
            <a:endParaRPr lang="en-US" sz="6000" b="1" i="0" u="none" strike="noStrike" cap="none">
              <a:solidFill>
                <a:srgbClr val="22D3EE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25717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Não fiques para trás em Programação I!</a:t>
            </a:r>
            <a:endParaRPr lang="en-US" sz="18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619750" y="3429000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571500" y="39433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Subscrição Semanal: 100 MT</a:t>
            </a:r>
            <a:endParaRPr lang="en-US" sz="1500" b="1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46101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E-Mola: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876108960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(Ismael Mussussa Chaibo)</a:t>
            </a:r>
            <a:endParaRPr lang="en-US" sz="1500" b="0" i="0" u="none" strike="noStrike" cap="none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523875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Envie o comprovativo (print) para garantir a sua vaga.</a:t>
            </a:r>
            <a:endParaRPr lang="en-US" sz="120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WPS Presentation</Application>
  <PresentationFormat/>
  <Paragraphs>174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Poppins</vt:lpstr>
      <vt:lpstr>Lato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Ismael mussussa Chaibo</cp:lastModifiedBy>
  <cp:revision>2</cp:revision>
  <dcterms:created xsi:type="dcterms:W3CDTF">2026-05-18T02:54:00Z</dcterms:created>
  <dcterms:modified xsi:type="dcterms:W3CDTF">2026-05-19T03:24:35Z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2070-12.1.0.26372</vt:lpwstr>
  </property>
  <property fmtid="{D5CDD505-2E9C-101B-9397-08002B2CF9AE}" pid="3" name="ICV">
    <vt:lpwstr>ECE083D4156D440684FA15EEDAC5D66B_13</vt:lpwstr>
  </property>
</Properties>
</file>